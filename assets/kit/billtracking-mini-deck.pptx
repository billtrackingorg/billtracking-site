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Two legislatures, side by 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D7E5F4"/>
                </a:solidFill>
                <a:latin typeface="Segoe UI"/>
              </a:rPr>
              <a:t>There is no faster way to understand each system than to watch it work next to the other.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D7E5F4"/>
                </a:solidFill>
                <a:latin typeface="Segoe UI"/>
              </a:rPr>
              <a:t>The same policy problem often moves through both systems at once — by very different routes.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5394960" cy="4160520"/>
          </a:xfrm>
          <a:prstGeom prst="roundRect">
            <a:avLst/>
          </a:prstGeom>
          <a:solidFill>
            <a:srgbClr val="0A31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CC00"/>
                </a:solidFill>
                <a:latin typeface="Segoe UI"/>
              </a:rPr>
              <a:t>United States Congress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FFFFFF"/>
                </a:solidFill>
                <a:latin typeface="Segoe UI"/>
              </a:rPr>
              <a:t>One elected legislature, two chambers in sequence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FFFFFF"/>
                </a:solidFill>
                <a:latin typeface="Segoe UI"/>
              </a:rPr>
              <a:t>Committee: where most bills quietly die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FFFFFF"/>
                </a:solidFill>
                <a:latin typeface="Segoe UI"/>
              </a:rPr>
              <a:t>The Senate's 60-vote cloture gate (the filibuster)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FFFFFF"/>
                </a:solidFill>
                <a:latin typeface="Segoe UI"/>
              </a:rPr>
              <a:t>Both chambers must pass identical text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FFFFFF"/>
                </a:solidFill>
                <a:latin typeface="Segoe UI"/>
              </a:rPr>
              <a:t>President signs, vetoes — or pocket-vetoes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FFFFFF"/>
                </a:solidFill>
                <a:latin typeface="Segoe UI"/>
              </a:rPr>
              <a:t>Veto override: two-thirds of both chambers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394960" cy="4160520"/>
          </a:xfrm>
          <a:prstGeom prst="round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7451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CC00"/>
                </a:solidFill>
                <a:latin typeface="Segoe UI"/>
              </a:rPr>
              <a:t>European Union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37744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FFFFFF"/>
                </a:solidFill>
                <a:latin typeface="Segoe UI"/>
              </a:rPr>
              <a:t>Only the Commission can propose a law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FFFFFF"/>
                </a:solidFill>
                <a:latin typeface="Segoe UI"/>
              </a:rPr>
              <a:t>Two co-legislators work in parallel, not sequence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FFFFFF"/>
                </a:solidFill>
                <a:latin typeface="Segoe UI"/>
              </a:rPr>
              <a:t>Parliament (elected) and Council (governments)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FFFFFF"/>
                </a:solidFill>
                <a:latin typeface="Segoe UI"/>
              </a:rPr>
              <a:t>Trilogue: the deal is cut behind closed doors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FFFFFF"/>
                </a:solidFill>
                <a:latin typeface="Segoe UI"/>
              </a:rPr>
              <a:t>No filibuster, no veto — agreement or nothing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FFFFFF"/>
                </a:solidFill>
                <a:latin typeface="Segoe UI"/>
              </a:rPr>
              <a:t>Regulation applies directly; directive is transposed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D7E5F4"/>
                </a:solidFill>
                <a:latin typeface="Segoe UI"/>
              </a:rPr>
              <a:t>Live feeds of both processes, from the official record:  @USBillTracker  ·  @EUBillTracker  ·  billtracking.org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A31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Georgia"/>
              </a:rPr>
              <a:t>How to read a US post — every line traces to the record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65836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-avatar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411480" cy="411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25880" y="15727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202B"/>
                </a:solidFill>
                <a:latin typeface="Segoe UI"/>
              </a:rPr>
              <a:t>US Bill Tracker  @USBillTracker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6035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6202B"/>
                </a:solidFill>
                <a:latin typeface="Segoe UI"/>
              </a:rPr>
              <a:t>H.R. 3497 | Medal of Sacrifice Act | Rep. Brian Mast (R-FL) |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6202B"/>
                </a:solidFill>
                <a:latin typeface="Segoe UI"/>
              </a:rPr>
              <a:t>Homeland Security and Governmental Affairs Committee,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6202B"/>
                </a:solidFill>
                <a:latin typeface="Segoe UI"/>
              </a:rPr>
              <a:t>Judiciary Committee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6202B"/>
                </a:solidFill>
                <a:latin typeface="Segoe UI"/>
              </a:rPr>
              <a:t>📅 11-05-2026 | ✅🏛️ Passed Senate (unanimous consent)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6202B"/>
                </a:solidFill>
                <a:latin typeface="Segoe UI"/>
              </a:rPr>
              <a:t>What's next: Presidential Review (±10 Days)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4630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3161"/>
                </a:solidFill>
                <a:latin typeface="Segoe UI"/>
              </a:rPr>
              <a:t>①  The measure, its sponsor, its committees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81051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86C"/>
                </a:solidFill>
                <a:latin typeface="Segoe UI"/>
              </a:rPr>
              <a:t>straight from the Congress.gov bill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4231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3161"/>
                </a:solidFill>
                <a:latin typeface="Segoe UI"/>
              </a:rPr>
              <a:t>②  The dated action, in the record's own words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77063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86C"/>
                </a:solidFill>
                <a:latin typeface="Segoe UI"/>
              </a:rPr>
              <a:t>vote results are copied verbatim — never AI-written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33832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3161"/>
                </a:solidFill>
                <a:latin typeface="Segoe UI"/>
              </a:rPr>
              <a:t>③  What honestly comes 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373075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86C"/>
                </a:solidFill>
                <a:latin typeface="Segoe UI"/>
              </a:rPr>
              <a:t>a real constitutional clock: ten days, Sundays excepted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4632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7586C"/>
                </a:solidFill>
                <a:latin typeface="Segoe UI"/>
              </a:rPr>
              <a:t>Classroom check: pull the bill on congress.gov and compare. Every date, tally and stage label must match the official record — if it doesn't, the feed is wrong and wants to know (see the exercise handout in this kit).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Georgia"/>
              </a:rPr>
              <a:t>How to read an EU post — plain English, honest clocks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65836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u-avatar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411480" cy="411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25880" y="15727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202B"/>
                </a:solidFill>
                <a:latin typeface="Segoe UI"/>
              </a:rPr>
              <a:t>EU Bill Tracker  @EUBillTracker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6035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6202B"/>
                </a:solidFill>
                <a:latin typeface="Segoe UI"/>
              </a:rPr>
              <a:t>🇪🇺 Amending Directives (EU) 2018/2001, (EU) 2019/944… |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6202B"/>
                </a:solidFill>
                <a:latin typeface="Segoe UI"/>
              </a:rPr>
              <a:t>2025/0400(COD)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6202B"/>
                </a:solidFill>
                <a:latin typeface="Segoe UI"/>
              </a:rPr>
              <a:t>Rapporteur: Niels Fuglsang (S&amp;D) | Lead committee: ITRE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6202B"/>
                </a:solidFill>
                <a:latin typeface="Segoe UI"/>
              </a:rPr>
              <a:t>📅 02-07-2026 | 🧭 Negotiating mandate for trilogue talks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6202B"/>
                </a:solidFill>
                <a:latin typeface="Segoe UI"/>
              </a:rPr>
              <a:t>What's next: Trilogue talks with the Council can begin once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6202B"/>
                </a:solidFill>
                <a:latin typeface="Segoe UI"/>
              </a:rPr>
              <a:t>the Council side has its own mandate. Closed-door rounds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6202B"/>
                </a:solidFill>
                <a:latin typeface="Segoe UI"/>
              </a:rPr>
              <a:t>follow; timing is not published.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6202B"/>
                </a:solidFill>
                <a:latin typeface="Segoe UI"/>
              </a:rPr>
              <a:t>Source: OEIL procedure file 2025/0400(COD)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4630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2573"/>
                </a:solidFill>
                <a:latin typeface="Segoe UI"/>
              </a:rPr>
              <a:t>①  The file and its procedure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810512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7586C"/>
                </a:solidFill>
                <a:latin typeface="Segoe UI"/>
              </a:rPr>
              <a:t>one code — 2025/0400(COD) — follows the law for years, across institutions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39572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2573"/>
                </a:solidFill>
                <a:latin typeface="Segoe UI"/>
              </a:rPr>
              <a:t>②  Rapporteur and lead committee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74320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7586C"/>
                </a:solidFill>
                <a:latin typeface="Segoe UI"/>
              </a:rPr>
              <a:t>Parliament's steering crew, from the official OEIL dossier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3328416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2573"/>
                </a:solidFill>
                <a:latin typeface="Segoe UI"/>
              </a:rPr>
              <a:t>③  An honest “what's next”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3675888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7586C"/>
                </a:solidFill>
                <a:latin typeface="Segoe UI"/>
              </a:rPr>
              <a:t>no invented timetables — trilogue timing isn't published, so the post says 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4261104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2573"/>
                </a:solidFill>
                <a:latin typeface="Segoe UI"/>
              </a:rPr>
              <a:t>④  The source 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4608576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7586C"/>
                </a:solidFill>
                <a:latin typeface="Segoe UI"/>
              </a:rPr>
              <a:t>every post cites its OEIL file, so any claim can be checked in seconds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120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7586C"/>
                </a:solidFill>
                <a:latin typeface="Segoe UI"/>
              </a:rPr>
              <a:t>Classroom check: open the OEIL procedure file and compare. A summary, when a post carries one, is the legislature’s own official summary, quoted word for word; nothing in a post is written by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Georgia"/>
              </a:rPr>
              <a:t>Follow along — then check our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43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7E5F4"/>
                </a:solidFill>
                <a:latin typeface="Segoe UI"/>
              </a:rPr>
              <a:t>Free, public, no paywall. Errors are corrected in the open — confirmed reports are credited by name in a public log.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920240"/>
            <a:ext cx="3566160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r-usbilltrac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2148840"/>
            <a:ext cx="2926080" cy="2926080"/>
          </a:xfrm>
          <a:prstGeom prst="rect">
            <a:avLst/>
          </a:prstGeom>
        </p:spPr>
      </p:pic>
      <p:pic>
        <p:nvPicPr>
          <p:cNvPr id="6" name="Picture 5" descr="us-avatar-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728" y="5230368"/>
            <a:ext cx="566928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017520" y="532180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A3161"/>
                </a:solidFill>
                <a:latin typeface="Segoe UI"/>
              </a:rPr>
              <a:t>@USBillTracker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920240"/>
            <a:ext cx="3566160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qr-eubilltrack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2148840"/>
            <a:ext cx="2926080" cy="2926080"/>
          </a:xfrm>
          <a:prstGeom prst="rect">
            <a:avLst/>
          </a:prstGeom>
        </p:spPr>
      </p:pic>
      <p:pic>
        <p:nvPicPr>
          <p:cNvPr id="10" name="Picture 9" descr="eu-avatar-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4927" y="5230368"/>
            <a:ext cx="56692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46720" y="532180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A3161"/>
                </a:solidFill>
                <a:latin typeface="Segoe UI"/>
              </a:rPr>
              <a:t>@EUBillTracker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CC00"/>
                </a:solidFill>
                <a:latin typeface="Segoe UI"/>
              </a:rPr>
              <a:t>billtracking.org  ·  accuracy@billtracking.org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